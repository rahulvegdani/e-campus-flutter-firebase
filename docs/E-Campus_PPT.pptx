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6" dt="2026-10-23T07:22:32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VEGDANI" userId="S::rahul.vegdani@aimsr.edu.in::94d69535-fa86-4805-a107-99b810b28106" providerId="AD" clId="Web-{00000000-0000-0000-0000-000000000000}"/>
    <pc:docChg chg="modSld">
      <pc:chgData name="RAHUL VEGDANI" userId="S::rahul.vegdani@aimsr.edu.in::94d69535-fa86-4805-a107-99b810b28106" providerId="AD" clId="Web-{00000000-0000-0000-0000-000000000000}" dt="2026-10-23T07:22:32.692" v="14" actId="20577"/>
      <pc:docMkLst>
        <pc:docMk/>
      </pc:docMkLst>
      <pc:sldChg chg="modSp">
        <pc:chgData name="RAHUL VEGDANI" userId="S::rahul.vegdani@aimsr.edu.in::94d69535-fa86-4805-a107-99b810b28106" providerId="AD" clId="Web-{00000000-0000-0000-0000-000000000000}" dt="2026-10-23T07:22:32.692" v="14" actId="20577"/>
        <pc:sldMkLst>
          <pc:docMk/>
          <pc:sldMk cId="0" sldId="256"/>
        </pc:sldMkLst>
        <pc:spChg chg="mod">
          <ac:chgData name="RAHUL VEGDANI" userId="S::rahul.vegdani@aimsr.edu.in::94d69535-fa86-4805-a107-99b810b28106" providerId="AD" clId="Web-{00000000-0000-0000-0000-000000000000}" dt="2026-10-23T07:22:32.692" v="14" actId="20577"/>
          <ac:spMkLst>
            <pc:docMk/>
            <pc:sldMk cId="0" sldId="256"/>
            <ac:spMk id="14" creationId="{8A846C6E-CB4B-E41E-3DA2-C5DDCFF2B1D4}"/>
          </ac:spMkLst>
        </pc:spChg>
      </pc:sldChg>
      <pc:sldChg chg="modSp">
        <pc:chgData name="RAHUL VEGDANI" userId="S::rahul.vegdani@aimsr.edu.in::94d69535-fa86-4805-a107-99b810b28106" providerId="AD" clId="Web-{00000000-0000-0000-0000-000000000000}" dt="2026-10-23T07:19:11.595" v="10" actId="1076"/>
        <pc:sldMkLst>
          <pc:docMk/>
          <pc:sldMk cId="0" sldId="269"/>
        </pc:sldMkLst>
        <pc:spChg chg="mod">
          <ac:chgData name="RAHUL VEGDANI" userId="S::rahul.vegdani@aimsr.edu.in::94d69535-fa86-4805-a107-99b810b28106" providerId="AD" clId="Web-{00000000-0000-0000-0000-000000000000}" dt="2026-10-23T07:19:04.485" v="9" actId="14100"/>
          <ac:spMkLst>
            <pc:docMk/>
            <pc:sldMk cId="0" sldId="269"/>
            <ac:spMk id="7" creationId="{00000000-0000-0000-0000-000000000000}"/>
          </ac:spMkLst>
        </pc:spChg>
        <pc:spChg chg="mod">
          <ac:chgData name="RAHUL VEGDANI" userId="S::rahul.vegdani@aimsr.edu.in::94d69535-fa86-4805-a107-99b810b28106" providerId="AD" clId="Web-{00000000-0000-0000-0000-000000000000}" dt="2026-10-23T07:19:11.595" v="10" actId="1076"/>
          <ac:spMkLst>
            <pc:docMk/>
            <pc:sldMk cId="0" sldId="269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223760" y="0"/>
            <a:ext cx="4754880" cy="4754880"/>
          </a:xfrm>
          <a:prstGeom prst="ellipse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3566160"/>
            <a:ext cx="3383280" cy="3383280"/>
          </a:xfrm>
          <a:prstGeom prst="ellipse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4160520"/>
            <a:ext cx="2194560" cy="2194560"/>
          </a:xfrm>
          <a:prstGeom prst="ellipse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676656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5DD2D6"/>
                </a:solidFill>
                <a:latin typeface="Aptos"/>
              </a:rPr>
              <a:t>E-CAMPUS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7589520" cy="1600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College Management
Mobile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676656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D3E0ED"/>
                </a:solidFill>
                <a:latin typeface="Aptos"/>
              </a:rPr>
              <a:t>A connected campus experience for students, teachers and administrators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754880"/>
            <a:ext cx="914400" cy="64008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074920"/>
            <a:ext cx="6217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5DD2D6"/>
                </a:solidFill>
                <a:latin typeface="Aptos"/>
              </a:rPr>
              <a:t>Flutter  •  Firebase  •  Role-based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126480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C8D7"/>
                </a:solidFill>
                <a:latin typeface="Aptos"/>
              </a:rPr>
              <a:t>MCA 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8C8D7"/>
                </a:solidFill>
                <a:latin typeface="Aptos"/>
              </a:rPr>
              <a:t>E-CAMPUS  • 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8C8D7"/>
                </a:solidFill>
                <a:latin typeface="Aptos"/>
              </a:rPr>
              <a:t>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846C6E-CB4B-E41E-3DA2-C5DDCFF2B1D4}"/>
              </a:ext>
            </a:extLst>
          </p:cNvPr>
          <p:cNvSpPr txBox="1"/>
          <p:nvPr/>
        </p:nvSpPr>
        <p:spPr>
          <a:xfrm>
            <a:off x="8311896" y="1604129"/>
            <a:ext cx="2944368" cy="130497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lvl="0"/>
            <a:r>
              <a:rPr lang="en-IN" sz="1600" b="1" dirty="0">
                <a:solidFill>
                  <a:srgbClr val="00A4A5"/>
                </a:solidFill>
                <a:latin typeface="Aptos" panose="020B0004020202020204" pitchFamily="34" charset="0"/>
              </a:rPr>
              <a:t>RAHUL VEGDANI — 56</a:t>
            </a:r>
          </a:p>
          <a:p>
            <a:pPr lvl="0"/>
            <a:r>
              <a:rPr lang="en-IN" sz="1600" b="1" dirty="0">
                <a:solidFill>
                  <a:srgbClr val="00A4A5"/>
                </a:solidFill>
                <a:latin typeface="Aptos" panose="020B0004020202020204" pitchFamily="34" charset="0"/>
              </a:rPr>
              <a:t>VISHWAJIT WAGHDHARE — 57</a:t>
            </a:r>
          </a:p>
          <a:p>
            <a:pPr lvl="0"/>
            <a:r>
              <a:rPr lang="en-IN" sz="1600" b="1" dirty="0">
                <a:solidFill>
                  <a:srgbClr val="00A4A5"/>
                </a:solidFill>
                <a:latin typeface="Aptos" panose="020B0004020202020204" pitchFamily="34" charset="0"/>
              </a:rPr>
              <a:t>SOHAM TAMBADE — 52</a:t>
            </a:r>
          </a:p>
          <a:p>
            <a:r>
              <a:rPr lang="en-IN" sz="1600" b="1" dirty="0">
                <a:solidFill>
                  <a:srgbClr val="00A4A5"/>
                </a:solidFill>
                <a:latin typeface="Aptos"/>
              </a:rPr>
              <a:t>PARIDHI SUREKA — 51</a:t>
            </a:r>
            <a:endParaRPr lang="en-IN"/>
          </a:p>
          <a:p>
            <a:pPr lvl="0"/>
            <a:r>
              <a:rPr lang="en-IN" sz="1600" b="1" dirty="0">
                <a:solidFill>
                  <a:srgbClr val="00A4A5"/>
                </a:solidFill>
                <a:latin typeface="Aptos" panose="020B0004020202020204" pitchFamily="34" charset="0"/>
              </a:rPr>
              <a:t>ASHUTOSH PANDEY — 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A4A5"/>
                </a:solidFill>
                <a:latin typeface="Aptos"/>
              </a:rPr>
              <a:t>01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7"/>
                </a:solidFill>
                <a:latin typeface="Aptos Display"/>
              </a:rPr>
              <a:t>Project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58368" cy="50292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51560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53344"/>
                </a:solidFill>
                <a:latin typeface="Aptos"/>
              </a:rPr>
              <a:t>E-Campus is a Flutter-based college management app designed to bring everyday campus information and communication into one mobile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429000" cy="2057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743200"/>
            <a:ext cx="64008" cy="2057400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5" y="2926080"/>
            <a:ext cx="502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0A4A5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2926080"/>
            <a:ext cx="2514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One campus 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3429000"/>
            <a:ext cx="2990088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Core student services and academic information in one place.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429000" cy="2057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743200"/>
            <a:ext cx="64008" cy="205740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2926080"/>
            <a:ext cx="502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5B142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2926080"/>
            <a:ext cx="251459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Role-aware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429000"/>
            <a:ext cx="2990088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Student, teacher and administrator workflows.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743200"/>
            <a:ext cx="3429000" cy="2057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743200"/>
            <a:ext cx="64008" cy="2057400"/>
          </a:xfrm>
          <a:prstGeom prst="rect">
            <a:avLst/>
          </a:prstGeom>
          <a:solidFill>
            <a:srgbClr val="5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0456" y="2926080"/>
            <a:ext cx="502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5DD2D6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2926080"/>
            <a:ext cx="251459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Cloud-connected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3429000"/>
            <a:ext cx="2990088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Firebase services support authentication and app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A4A5"/>
                </a:solidFill>
                <a:latin typeface="Aptos"/>
              </a:rPr>
              <a:t>Focus: usability • access • communication • maintainability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E-CAMPUS  •  PROJECT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A4A5"/>
                </a:solidFill>
                <a:latin typeface="Aptos"/>
              </a:rPr>
              <a:t>02 • WHY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7"/>
                </a:solidFill>
                <a:latin typeface="Aptos Display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58368" cy="50292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332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01F37"/>
                </a:solidFill>
                <a:latin typeface="Aptos"/>
              </a:rPr>
              <a:t>Campus information is often spread across different channels, making it harder for students and staff to find the right information quickly.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71800"/>
            <a:ext cx="3383280" cy="196596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971800"/>
            <a:ext cx="64008" cy="1965960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5" y="3154680"/>
            <a:ext cx="29992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Fragmented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3657600"/>
            <a:ext cx="2944368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Timetables, attendance and library details may live in separate places.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71800"/>
            <a:ext cx="3383280" cy="196596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971800"/>
            <a:ext cx="64008" cy="196596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3154680"/>
            <a:ext cx="29992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Communication 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3657600"/>
            <a:ext cx="2944368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Students need a clear channel to contact teachers or administrators.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971800"/>
            <a:ext cx="3383280" cy="196596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2971800"/>
            <a:ext cx="64008" cy="1965960"/>
          </a:xfrm>
          <a:prstGeom prst="rect">
            <a:avLst/>
          </a:prstGeom>
          <a:solidFill>
            <a:srgbClr val="5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0456" y="3154680"/>
            <a:ext cx="29992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Different responsibilities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3657600"/>
            <a:ext cx="2944368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campus role needs relevant screens and permissions.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E-CAMPUS  •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A4A5"/>
                </a:solidFill>
                <a:latin typeface="Aptos"/>
              </a:rPr>
              <a:t>03 •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7"/>
                </a:solidFill>
                <a:latin typeface="Aptos Display"/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58368" cy="50292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6583680" cy="416052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53344"/>
                </a:solidFill>
                <a:latin typeface="Aptos"/>
              </a:defRPr>
            </a:pPr>
            <a:r>
              <a:t>•  Provide a mobile-first interface for common campus tasks.</a:t>
            </a:r>
          </a:p>
          <a:p>
            <a:pPr>
              <a:spcAft>
                <a:spcPts val="1600"/>
              </a:spcAft>
              <a:defRPr sz="1800">
                <a:solidFill>
                  <a:srgbClr val="253344"/>
                </a:solidFill>
                <a:latin typeface="Aptos"/>
              </a:defRPr>
            </a:pPr>
            <a:r>
              <a:t>•  Support OTP-based authentication and role-based navigation.</a:t>
            </a:r>
          </a:p>
          <a:p>
            <a:pPr>
              <a:spcAft>
                <a:spcPts val="1600"/>
              </a:spcAft>
              <a:defRPr sz="1800">
                <a:solidFill>
                  <a:srgbClr val="253344"/>
                </a:solidFill>
                <a:latin typeface="Aptos"/>
              </a:defRPr>
            </a:pPr>
            <a:r>
              <a:t>•  Bring attendance, timetable, library and profile access into one app.</a:t>
            </a:r>
          </a:p>
          <a:p>
            <a:pPr>
              <a:spcAft>
                <a:spcPts val="1600"/>
              </a:spcAft>
              <a:defRPr sz="1800">
                <a:solidFill>
                  <a:srgbClr val="253344"/>
                </a:solidFill>
                <a:latin typeface="Aptos"/>
              </a:defRPr>
            </a:pPr>
            <a:r>
              <a:t>•  Enable campus communication between students, teachers and administrators.</a:t>
            </a:r>
          </a:p>
          <a:p>
            <a:pPr>
              <a:spcAft>
                <a:spcPts val="1600"/>
              </a:spcAft>
              <a:defRPr sz="1800">
                <a:solidFill>
                  <a:srgbClr val="253344"/>
                </a:solidFill>
                <a:latin typeface="Aptos"/>
              </a:defRPr>
            </a:pPr>
            <a:r>
              <a:t>•  Use Firebase services to support app data and notifications.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828800"/>
            <a:ext cx="3200400" cy="3474720"/>
          </a:xfrm>
          <a:prstGeom prst="roundRect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2194560"/>
            <a:ext cx="2651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DD2D6"/>
                </a:solidFill>
                <a:latin typeface="Aptos"/>
              </a:rPr>
              <a:t>DESIGN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43200"/>
            <a:ext cx="265176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Make the right campus action easy to find.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343400"/>
            <a:ext cx="26517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3E0ED"/>
                </a:solidFill>
                <a:latin typeface="Aptos"/>
              </a:rPr>
              <a:t>Clear navigation • focused screens • role-aware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E-CAMPUS  •  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A4A5"/>
                </a:solidFill>
                <a:latin typeface="Aptos"/>
              </a:rPr>
              <a:t>04 • USER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7"/>
                </a:solidFill>
                <a:latin typeface="Aptos Display"/>
              </a:rPr>
              <a:t>Users and role-based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58368" cy="50292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429000" cy="29718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64008" cy="2971800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011680"/>
            <a:ext cx="502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0A4A5"/>
                </a:solidFill>
                <a:latin typeface="Aptos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011680"/>
            <a:ext cx="2514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514600"/>
            <a:ext cx="2990088" cy="2148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View relevant academic information, attendance, timetable and library features; contact teachers or admins as appropriate.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29718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64008" cy="297180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2011680"/>
            <a:ext cx="502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5B142"/>
                </a:solidFill>
                <a:latin typeface="Aptos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2011680"/>
            <a:ext cx="251459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Teacher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514600"/>
            <a:ext cx="2990088" cy="2148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Access teacher-facing screens and communicate with students or administrators.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28800"/>
            <a:ext cx="3429000" cy="29718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828800"/>
            <a:ext cx="64008" cy="2971800"/>
          </a:xfrm>
          <a:prstGeom prst="rect">
            <a:avLst/>
          </a:prstGeom>
          <a:solidFill>
            <a:srgbClr val="5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0456" y="2011680"/>
            <a:ext cx="502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5DD2D6"/>
                </a:solidFill>
                <a:latin typeface="Aptos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8" y="2011680"/>
            <a:ext cx="251459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Administrator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2514600"/>
            <a:ext cx="2990088" cy="2148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Support app administration and respond to app-related issues.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1F37"/>
                </a:solidFill>
                <a:latin typeface="Aptos"/>
              </a:rPr>
              <a:t>The intended experience changes according to the signed-in user's role.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E-CAMPUS  •  PROJECT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A4A5"/>
                </a:solidFill>
                <a:latin typeface="Aptos"/>
              </a:rPr>
              <a:t>05 • APP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7"/>
                </a:solidFill>
                <a:latin typeface="Aptos Display"/>
              </a:rPr>
              <a:t>Core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58368" cy="50292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337560" cy="16002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64008" cy="1600200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29535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423160"/>
            <a:ext cx="2898648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OTP login and account-aware entry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337560" cy="16002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737360"/>
            <a:ext cx="64008" cy="1600200"/>
          </a:xfrm>
          <a:prstGeom prst="rect">
            <a:avLst/>
          </a:prstGeom>
          <a:solidFill>
            <a:srgbClr val="5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54296" y="1920240"/>
            <a:ext cx="295351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Dashboard &amp;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423160"/>
            <a:ext cx="2898648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Personal starting point and profile details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37360"/>
            <a:ext cx="3337560" cy="16002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737360"/>
            <a:ext cx="64008" cy="160020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1896" y="1920240"/>
            <a:ext cx="295351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423160"/>
            <a:ext cx="2898648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Attendance views and chart component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3337560" cy="16002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703320"/>
            <a:ext cx="64008" cy="1600200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3886200"/>
            <a:ext cx="29535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Timetable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389120"/>
            <a:ext cx="2898648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Academic schedule and admin timetable screen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703320"/>
            <a:ext cx="3337560" cy="16002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703320"/>
            <a:ext cx="64008" cy="1600200"/>
          </a:xfrm>
          <a:prstGeom prst="rect">
            <a:avLst/>
          </a:prstGeom>
          <a:solidFill>
            <a:srgbClr val="5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54296" y="3886200"/>
            <a:ext cx="295351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4389120"/>
            <a:ext cx="2898648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Access to library-related functionality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703320"/>
            <a:ext cx="3337560" cy="16002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92440" y="3703320"/>
            <a:ext cx="64008" cy="160020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11896" y="3886200"/>
            <a:ext cx="295351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Campus chat &amp;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4389120"/>
            <a:ext cx="2898648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Communication flows and notification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E-CAMPUS  •  PROJECT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A4A5"/>
                </a:solidFill>
                <a:latin typeface="Aptos"/>
              </a:rPr>
              <a:t>06 • VISUAL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7"/>
                </a:solidFill>
                <a:latin typeface="Aptos Display"/>
              </a:rPr>
              <a:t>App screens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58368" cy="50292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423160" cy="4343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_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216" y="1600200"/>
            <a:ext cx="2004646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007608"/>
            <a:ext cx="2423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A4A5"/>
                </a:solidFill>
                <a:latin typeface="Aptos"/>
              </a:rPr>
              <a:t>SCREEN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600200"/>
            <a:ext cx="2423160" cy="4343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_0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763" y="1600200"/>
            <a:ext cx="2003393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11880" y="6007608"/>
            <a:ext cx="2423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A4A5"/>
                </a:solidFill>
                <a:latin typeface="Aptos"/>
              </a:rPr>
              <a:t>SCREEN 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2423160" cy="4343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_0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683" y="1600200"/>
            <a:ext cx="2003393" cy="434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6007608"/>
            <a:ext cx="2423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A4A5"/>
                </a:solidFill>
                <a:latin typeface="Aptos"/>
              </a:rPr>
              <a:t>SCREEN 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600200"/>
            <a:ext cx="2148840" cy="4343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creen_0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2443" y="1600200"/>
            <a:ext cx="2003393" cy="4343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89720" y="6007608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A4A5"/>
                </a:solidFill>
                <a:latin typeface="Aptos"/>
              </a:rPr>
              <a:t>SCREEN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E-CAMPUS  •  PROJECT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A4A5"/>
                </a:solidFill>
                <a:latin typeface="Aptos"/>
              </a:rPr>
              <a:t>06 • VISUAL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7"/>
                </a:solidFill>
                <a:latin typeface="Aptos Display"/>
              </a:rPr>
              <a:t>More app screens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58368" cy="50292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423160" cy="4343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_0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216" y="1600200"/>
            <a:ext cx="2004646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007608"/>
            <a:ext cx="2423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A4A5"/>
                </a:solidFill>
                <a:latin typeface="Aptos"/>
              </a:rPr>
              <a:t>SCREEN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600200"/>
            <a:ext cx="2423160" cy="4343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_0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136" y="1600200"/>
            <a:ext cx="2004646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11880" y="6007608"/>
            <a:ext cx="2423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A4A5"/>
                </a:solidFill>
                <a:latin typeface="Aptos"/>
              </a:rPr>
              <a:t>SCREEN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2423160" cy="4343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_07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683" y="1600200"/>
            <a:ext cx="2003393" cy="434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6007608"/>
            <a:ext cx="2423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A4A5"/>
                </a:solidFill>
                <a:latin typeface="Aptos"/>
              </a:rPr>
              <a:t>SCREEN 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600200"/>
            <a:ext cx="2148840" cy="4343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creen_08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1816" y="1600200"/>
            <a:ext cx="2004646" cy="4343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89720" y="6007608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A4A5"/>
                </a:solidFill>
                <a:latin typeface="Aptos"/>
              </a:rPr>
              <a:t>SCREEN 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E-CAMPUS  •  PROJECT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A4A5"/>
                </a:solidFill>
                <a:latin typeface="Aptos"/>
              </a:rPr>
              <a:t>06 • VISUAL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7"/>
                </a:solidFill>
                <a:latin typeface="Aptos Display"/>
              </a:rPr>
              <a:t>Additional screens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58368" cy="50292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423160" cy="4343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_0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216" y="1600200"/>
            <a:ext cx="2004646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007608"/>
            <a:ext cx="2423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A4A5"/>
                </a:solidFill>
                <a:latin typeface="Aptos"/>
              </a:rPr>
              <a:t>SCREEN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600200"/>
            <a:ext cx="2423160" cy="4343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_1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763" y="1600200"/>
            <a:ext cx="2003393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11880" y="6007608"/>
            <a:ext cx="2423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A4A5"/>
                </a:solidFill>
                <a:latin typeface="Aptos"/>
              </a:rPr>
              <a:t>SCREEN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2423160" cy="4343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_1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683" y="1600200"/>
            <a:ext cx="2003393" cy="434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6007608"/>
            <a:ext cx="2423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A4A5"/>
                </a:solidFill>
                <a:latin typeface="Aptos"/>
              </a:rPr>
              <a:t>SCREEN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600200"/>
            <a:ext cx="2148840" cy="4343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creen_12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2443" y="1600200"/>
            <a:ext cx="2003393" cy="4343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89720" y="6007608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A4A5"/>
                </a:solidFill>
                <a:latin typeface="Aptos"/>
              </a:rPr>
              <a:t>SCREEN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E-CAMPUS  •  PROJECT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A4A5"/>
                </a:solidFill>
                <a:latin typeface="Aptos"/>
              </a:rPr>
              <a:t>07 • HOW IT FITS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7"/>
                </a:solidFill>
                <a:latin typeface="Aptos Display"/>
              </a:rPr>
              <a:t>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58368" cy="50292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2743200" cy="3291840"/>
          </a:xfrm>
          <a:prstGeom prst="roundRect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21945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FLUTTER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34640"/>
            <a:ext cx="2194560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D3E0ED"/>
                </a:solidFill>
                <a:latin typeface="Aptos"/>
              </a:rPr>
              <a:t>Screens &amp; navigation
Role-based flows
Riverpod state management</a:t>
            </a:r>
          </a:p>
        </p:txBody>
      </p:sp>
      <p:sp>
        <p:nvSpPr>
          <p:cNvPr id="8" name="Chevron 7"/>
          <p:cNvSpPr/>
          <p:nvPr/>
        </p:nvSpPr>
        <p:spPr>
          <a:xfrm>
            <a:off x="3886200" y="2880360"/>
            <a:ext cx="914400" cy="731520"/>
          </a:xfrm>
          <a:prstGeom prst="chevron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74920" y="1828800"/>
            <a:ext cx="2743200" cy="329184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49240" y="2148840"/>
            <a:ext cx="21945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1F37"/>
                </a:solidFill>
                <a:latin typeface="Aptos"/>
              </a:rPr>
              <a:t>FIREBASE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743200"/>
            <a:ext cx="2194560" cy="1645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53344"/>
                </a:solidFill>
                <a:latin typeface="Aptos"/>
              </a:rPr>
              <a:t>Authentication
Cloud Firestore
Cloud Messaging
Storage / App Check</a:t>
            </a:r>
          </a:p>
        </p:txBody>
      </p:sp>
      <p:sp>
        <p:nvSpPr>
          <p:cNvPr id="12" name="Chevron 11"/>
          <p:cNvSpPr/>
          <p:nvPr/>
        </p:nvSpPr>
        <p:spPr>
          <a:xfrm>
            <a:off x="8001000" y="2880360"/>
            <a:ext cx="914400" cy="731520"/>
          </a:xfrm>
          <a:prstGeom prst="chevron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0" y="1828800"/>
            <a:ext cx="2103120" cy="329184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2148840"/>
            <a:ext cx="1737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1F37"/>
                </a:solidFill>
                <a:latin typeface="Aptos"/>
              </a:rPr>
              <a:t>CAMPUS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926080"/>
            <a:ext cx="173736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53344"/>
                </a:solidFill>
                <a:latin typeface="Aptos"/>
              </a:rPr>
              <a:t>Students
Teachers
Admins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77840"/>
            <a:ext cx="10332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Conceptual architecture based on the project stack; exact runtime flows may vary by feature.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E-CAMPUS  •  PROJECT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A4A5"/>
                </a:solidFill>
                <a:latin typeface="Aptos"/>
              </a:rPr>
              <a:t>08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7"/>
                </a:solidFill>
                <a:latin typeface="Aptos Display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58368" cy="50292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429000" cy="16002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64008" cy="1600200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304495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Flutter + Dart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423160"/>
            <a:ext cx="2990088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Cross-platform mobile application 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29000" cy="16002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64008" cy="160020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1920240"/>
            <a:ext cx="304495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Firebase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423160"/>
            <a:ext cx="2990088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Authentication and signed-in user identity.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37360"/>
            <a:ext cx="3429000" cy="16002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737360"/>
            <a:ext cx="64008" cy="1600200"/>
          </a:xfrm>
          <a:prstGeom prst="rect">
            <a:avLst/>
          </a:prstGeom>
          <a:solidFill>
            <a:srgbClr val="5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0456" y="1920240"/>
            <a:ext cx="304495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Cloud Firestore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423160"/>
            <a:ext cx="2990088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Cloud-hosted app data and conversation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3429000" cy="16002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657600"/>
            <a:ext cx="64008" cy="1600200"/>
          </a:xfrm>
          <a:prstGeom prst="rect">
            <a:avLst/>
          </a:prstGeom>
          <a:solidFill>
            <a:srgbClr val="5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3840480"/>
            <a:ext cx="304495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Firebase Messaging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343400"/>
            <a:ext cx="2990088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Push notification infrastructure.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57600"/>
            <a:ext cx="3429000" cy="16002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657600"/>
            <a:ext cx="64008" cy="1600200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08576" y="3840480"/>
            <a:ext cx="304495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Riverpod + GoRouter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4343400"/>
            <a:ext cx="2990088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State management and navigation support.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657600"/>
            <a:ext cx="3429000" cy="16002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01000" y="3657600"/>
            <a:ext cx="64008" cy="160020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0456" y="3840480"/>
            <a:ext cx="304495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Firebase Storage &amp; App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4343400"/>
            <a:ext cx="2990088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File storage and app-integrity support.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E-CAMPUS  •  PROJECT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A4A5"/>
                </a:solidFill>
                <a:latin typeface="Aptos"/>
              </a:rPr>
              <a:t>09 •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7"/>
                </a:solidFill>
                <a:latin typeface="Aptos Display"/>
              </a:rPr>
              <a:t>Security and reliability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58368" cy="50292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7406640" cy="402336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53344"/>
                </a:solidFill>
                <a:latin typeface="Aptos"/>
              </a:defRPr>
            </a:pPr>
            <a:r>
              <a:t>•  Use role-aware navigation to present the relevant experience for each user.</a:t>
            </a:r>
          </a:p>
          <a:p>
            <a:pPr>
              <a:spcAft>
                <a:spcPts val="1500"/>
              </a:spcAft>
              <a:defRPr sz="1700">
                <a:solidFill>
                  <a:srgbClr val="253344"/>
                </a:solidFill>
                <a:latin typeface="Aptos"/>
              </a:defRPr>
            </a:pPr>
            <a:r>
              <a:t>•  Enforce authorization in Firebase Security Rules—not only in the UI.</a:t>
            </a:r>
          </a:p>
          <a:p>
            <a:pPr>
              <a:spcAft>
                <a:spcPts val="1500"/>
              </a:spcAft>
              <a:defRPr sz="1700">
                <a:solidFill>
                  <a:srgbClr val="253344"/>
                </a:solidFill>
                <a:latin typeface="Aptos"/>
              </a:defRPr>
            </a:pPr>
            <a:r>
              <a:t>•  Keep service-account credentials and private secrets out of the repository.</a:t>
            </a:r>
          </a:p>
          <a:p>
            <a:pPr>
              <a:spcAft>
                <a:spcPts val="1500"/>
              </a:spcAft>
              <a:defRPr sz="1700">
                <a:solidFill>
                  <a:srgbClr val="253344"/>
                </a:solidFill>
                <a:latin typeface="Aptos"/>
              </a:defRPr>
            </a:pPr>
            <a:r>
              <a:t>•  Test authentication, Firestore permissions, notifications and role-specific flows.</a:t>
            </a:r>
          </a:p>
          <a:p>
            <a:pPr>
              <a:spcAft>
                <a:spcPts val="1500"/>
              </a:spcAft>
              <a:defRPr sz="1700">
                <a:solidFill>
                  <a:srgbClr val="253344"/>
                </a:solidFill>
                <a:latin typeface="Aptos"/>
              </a:defRPr>
            </a:pPr>
            <a:r>
              <a:t>•  Validate the app on a physical Android device before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2011680"/>
            <a:ext cx="2377440" cy="3108960"/>
          </a:xfrm>
          <a:prstGeom prst="roundRect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15400" y="2377440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DD2D6"/>
                </a:solidFill>
                <a:latin typeface="Aptos"/>
              </a:rPr>
              <a:t>QUALITY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3063240"/>
            <a:ext cx="192024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Correct access
Reliable data
Clear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E-CAMPUS  • 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A4A5"/>
                </a:solidFill>
                <a:latin typeface="Aptos"/>
              </a:rPr>
              <a:t>10 •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F37"/>
                </a:solidFill>
                <a:latin typeface="Aptos Display"/>
              </a:rP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58368" cy="50292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429000" cy="201168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64008" cy="2011680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011680"/>
            <a:ext cx="304495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Campus transport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514600"/>
            <a:ext cx="2990088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Explore live bus tracking and route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201168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64008" cy="201168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2011680"/>
            <a:ext cx="304495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AI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514600"/>
            <a:ext cx="2990088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Offer guided help for common campus questions.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28800"/>
            <a:ext cx="3429000" cy="201168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828800"/>
            <a:ext cx="64008" cy="2011680"/>
          </a:xfrm>
          <a:prstGeom prst="rect">
            <a:avLst/>
          </a:prstGeom>
          <a:solidFill>
            <a:srgbClr val="5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0456" y="2011680"/>
            <a:ext cx="304495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Richer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514600"/>
            <a:ext cx="2990088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Improve attendance insights and administrative reporting.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4251960"/>
            <a:ext cx="3429000" cy="141732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60320" y="4251960"/>
            <a:ext cx="64008" cy="1417320"/>
          </a:xfrm>
          <a:prstGeom prst="rect">
            <a:avLst/>
          </a:prstGeom>
          <a:solidFill>
            <a:srgbClr val="5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79776" y="4434840"/>
            <a:ext cx="304495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More integrations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9776" y="4937760"/>
            <a:ext cx="2990088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Connect additional campus systems where available.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51960"/>
            <a:ext cx="3429000" cy="141732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4251960"/>
            <a:ext cx="64008" cy="1417320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4434840"/>
            <a:ext cx="304495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F37"/>
                </a:solidFill>
                <a:latin typeface="Aptos"/>
              </a:rPr>
              <a:t>Release hardening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4937760"/>
            <a:ext cx="2990088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Expand testing, monitoring and accessibility checks.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E-CAMPUS  •  PROJECT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DD2D6"/>
                </a:solidFill>
                <a:latin typeface="Aptos"/>
              </a:rPr>
              <a:t>11 •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58368" cy="50292"/>
          </a:xfrm>
          <a:prstGeom prst="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996696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 Display"/>
              </a:rPr>
              <a:t>E-Campus brings essential campus services into one mobile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8046720" cy="192024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D3E0ED"/>
                </a:solidFill>
                <a:latin typeface="Aptos"/>
              </a:defRPr>
            </a:pPr>
            <a:r>
              <a:t>•  A role-aware Flutter application for students, teachers and administrators.</a:t>
            </a:r>
          </a:p>
          <a:p>
            <a:pPr>
              <a:spcAft>
                <a:spcPts val="1400"/>
              </a:spcAft>
              <a:defRPr sz="1700">
                <a:solidFill>
                  <a:srgbClr val="D3E0ED"/>
                </a:solidFill>
                <a:latin typeface="Aptos"/>
              </a:defRPr>
            </a:pPr>
            <a:r>
              <a:t>•  Firebase-backed authentication and app-service foundations.</a:t>
            </a:r>
          </a:p>
          <a:p>
            <a:pPr>
              <a:spcAft>
                <a:spcPts val="1400"/>
              </a:spcAft>
              <a:defRPr sz="1700">
                <a:solidFill>
                  <a:srgbClr val="D3E0ED"/>
                </a:solidFill>
                <a:latin typeface="Aptos"/>
              </a:defRPr>
            </a:pPr>
            <a:r>
              <a:t>•  A foundation that can grow with more campus workflows and integrations.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85200" y="2987040"/>
            <a:ext cx="3261360" cy="3698240"/>
          </a:xfrm>
          <a:prstGeom prst="roundRect">
            <a:avLst/>
          </a:prstGeom>
          <a:solidFill>
            <a:srgbClr val="00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27160" y="4254793"/>
            <a:ext cx="2509520" cy="130497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dirty="0">
                <a:solidFill>
                  <a:srgbClr val="FFFFFF"/>
                </a:solidFill>
                <a:latin typeface="Aptos"/>
              </a:rPr>
              <a:t>THANK
</a:t>
            </a:r>
            <a:r>
              <a:rPr sz="4000" b="1">
                <a:solidFill>
                  <a:srgbClr val="FFFFFF"/>
                </a:solidFill>
                <a:latin typeface="Aptos"/>
              </a:rPr>
              <a:t>YOU</a:t>
            </a:r>
            <a:endParaRPr lang="en-US" sz="4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8C8D7"/>
                </a:solidFill>
                <a:latin typeface="Aptos"/>
              </a:rPr>
              <a:t>E-CAMPUS  • 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8C8D7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25603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dirty="0">
                <a:solidFill>
                  <a:srgbClr val="FFFFFF"/>
                </a:solidFill>
                <a:latin typeface="Aptos Display"/>
              </a:rPr>
              <a:t>E</a:t>
            </a:r>
            <a:r>
              <a:rPr lang="en-IN" sz="3200" b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ptos Display"/>
              </a:rPr>
              <a:t>-</a:t>
            </a:r>
            <a:r>
              <a:rPr lang="en-IN" sz="3200" b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ptos Display"/>
              </a:rPr>
              <a:t>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011680"/>
            <a:ext cx="64008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1F37"/>
                </a:solidFill>
                <a:latin typeface="Aptos Display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2880360"/>
            <a:ext cx="5943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A4A5"/>
                </a:solidFill>
                <a:latin typeface="Aptos"/>
              </a:rPr>
              <a:t>College Management Mobile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5029200"/>
            <a:ext cx="2743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E-CAMPUS  • 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797</Words>
  <Application>Microsoft Office PowerPoint</Application>
  <PresentationFormat>Widescreen</PresentationFormat>
  <Paragraphs>171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Ayushi babwani</cp:lastModifiedBy>
  <cp:revision>12</cp:revision>
  <dcterms:created xsi:type="dcterms:W3CDTF">2013-01-27T09:14:16Z</dcterms:created>
  <dcterms:modified xsi:type="dcterms:W3CDTF">2026-10-23T07:22:40Z</dcterms:modified>
  <cp:category/>
</cp:coreProperties>
</file>